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Libre Baskerville" panose="02000000000000000000" pitchFamily="2" charset="0"/>
      <p:regular r:id="rId13"/>
    </p:embeddedFont>
    <p:embeddedFont>
      <p:font typeface="Open Sans" panose="020B0606030504020204" pitchFamily="3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52A117-EFD1-4155-8B1F-E1A0FF7980D0}" v="1" dt="2026-06-12T15:44:08.4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anpsalim@outlook.com" userId="0786db01c6a829da" providerId="LiveId" clId="{7F472D30-13AD-4289-8306-CF60401DE640}"/>
    <pc:docChg chg="custSel modSld sldOrd">
      <pc:chgData name="sinanpsalim@outlook.com" userId="0786db01c6a829da" providerId="LiveId" clId="{7F472D30-13AD-4289-8306-CF60401DE640}" dt="2026-06-12T15:44:59.759" v="81" actId="14100"/>
      <pc:docMkLst>
        <pc:docMk/>
      </pc:docMkLst>
      <pc:sldChg chg="addSp modSp mod">
        <pc:chgData name="sinanpsalim@outlook.com" userId="0786db01c6a829da" providerId="LiveId" clId="{7F472D30-13AD-4289-8306-CF60401DE640}" dt="2026-06-12T15:41:33.643" v="49" actId="20577"/>
        <pc:sldMkLst>
          <pc:docMk/>
          <pc:sldMk cId="0" sldId="256"/>
        </pc:sldMkLst>
        <pc:spChg chg="mod">
          <ac:chgData name="sinanpsalim@outlook.com" userId="0786db01c6a829da" providerId="LiveId" clId="{7F472D30-13AD-4289-8306-CF60401DE640}" dt="2026-06-12T15:41:33.643" v="49" actId="20577"/>
          <ac:spMkLst>
            <pc:docMk/>
            <pc:sldMk cId="0" sldId="256"/>
            <ac:spMk id="4" creationId="{00000000-0000-0000-0000-000000000000}"/>
          </ac:spMkLst>
        </pc:spChg>
        <pc:spChg chg="add mod">
          <ac:chgData name="sinanpsalim@outlook.com" userId="0786db01c6a829da" providerId="LiveId" clId="{7F472D30-13AD-4289-8306-CF60401DE640}" dt="2026-06-11T16:33:18.891" v="2" actId="207"/>
          <ac:spMkLst>
            <pc:docMk/>
            <pc:sldMk cId="0" sldId="256"/>
            <ac:spMk id="9" creationId="{F86093B1-9F75-25AD-571D-3AB572DC0198}"/>
          </ac:spMkLst>
        </pc:spChg>
      </pc:sldChg>
      <pc:sldChg chg="addSp modSp mod ord">
        <pc:chgData name="sinanpsalim@outlook.com" userId="0786db01c6a829da" providerId="LiveId" clId="{7F472D30-13AD-4289-8306-CF60401DE640}" dt="2026-06-12T15:44:59.759" v="81" actId="14100"/>
        <pc:sldMkLst>
          <pc:docMk/>
          <pc:sldMk cId="0" sldId="258"/>
        </pc:sldMkLst>
        <pc:spChg chg="add mod">
          <ac:chgData name="sinanpsalim@outlook.com" userId="0786db01c6a829da" providerId="LiveId" clId="{7F472D30-13AD-4289-8306-CF60401DE640}" dt="2026-06-11T16:33:31.831" v="5" actId="207"/>
          <ac:spMkLst>
            <pc:docMk/>
            <pc:sldMk cId="0" sldId="258"/>
            <ac:spMk id="19" creationId="{5291B1DC-730C-5386-C0D3-532D690478DF}"/>
          </ac:spMkLst>
        </pc:spChg>
        <pc:spChg chg="add mod">
          <ac:chgData name="sinanpsalim@outlook.com" userId="0786db01c6a829da" providerId="LiveId" clId="{7F472D30-13AD-4289-8306-CF60401DE640}" dt="2026-06-12T15:44:59.759" v="81" actId="14100"/>
          <ac:spMkLst>
            <pc:docMk/>
            <pc:sldMk cId="0" sldId="258"/>
            <ac:spMk id="20" creationId="{33755A0E-5121-0D56-A4BF-BE0B0757A439}"/>
          </ac:spMkLst>
        </pc:spChg>
      </pc:sldChg>
      <pc:sldChg chg="modSp mod">
        <pc:chgData name="sinanpsalim@outlook.com" userId="0786db01c6a829da" providerId="LiveId" clId="{7F472D30-13AD-4289-8306-CF60401DE640}" dt="2026-06-11T17:28:03.264" v="32" actId="1076"/>
        <pc:sldMkLst>
          <pc:docMk/>
          <pc:sldMk cId="0" sldId="259"/>
        </pc:sldMkLst>
        <pc:spChg chg="mod">
          <ac:chgData name="sinanpsalim@outlook.com" userId="0786db01c6a829da" providerId="LiveId" clId="{7F472D30-13AD-4289-8306-CF60401DE640}" dt="2026-06-11T17:28:03.264" v="32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sinanpsalim@outlook.com" userId="0786db01c6a829da" providerId="LiveId" clId="{7F472D30-13AD-4289-8306-CF60401DE640}" dt="2026-06-11T17:27:14.245" v="28" actId="255"/>
          <ac:spMkLst>
            <pc:docMk/>
            <pc:sldMk cId="0" sldId="259"/>
            <ac:spMk id="9" creationId="{00000000-0000-0000-0000-000000000000}"/>
          </ac:spMkLst>
        </pc:spChg>
        <pc:spChg chg="mod">
          <ac:chgData name="sinanpsalim@outlook.com" userId="0786db01c6a829da" providerId="LiveId" clId="{7F472D30-13AD-4289-8306-CF60401DE640}" dt="2026-06-11T17:27:26.175" v="30" actId="255"/>
          <ac:spMkLst>
            <pc:docMk/>
            <pc:sldMk cId="0" sldId="259"/>
            <ac:spMk id="12" creationId="{00000000-0000-0000-0000-000000000000}"/>
          </ac:spMkLst>
        </pc:spChg>
      </pc:sldChg>
      <pc:sldChg chg="addSp modSp mod">
        <pc:chgData name="sinanpsalim@outlook.com" userId="0786db01c6a829da" providerId="LiveId" clId="{7F472D30-13AD-4289-8306-CF60401DE640}" dt="2026-06-11T16:33:45.139" v="8" actId="207"/>
        <pc:sldMkLst>
          <pc:docMk/>
          <pc:sldMk cId="0" sldId="260"/>
        </pc:sldMkLst>
        <pc:spChg chg="add mod">
          <ac:chgData name="sinanpsalim@outlook.com" userId="0786db01c6a829da" providerId="LiveId" clId="{7F472D30-13AD-4289-8306-CF60401DE640}" dt="2026-06-11T16:33:45.139" v="8" actId="207"/>
          <ac:spMkLst>
            <pc:docMk/>
            <pc:sldMk cId="0" sldId="260"/>
            <ac:spMk id="9" creationId="{AD514547-C81B-A13A-F9A6-42000C96D863}"/>
          </ac:spMkLst>
        </pc:spChg>
      </pc:sldChg>
      <pc:sldChg chg="addSp modSp mod">
        <pc:chgData name="sinanpsalim@outlook.com" userId="0786db01c6a829da" providerId="LiveId" clId="{7F472D30-13AD-4289-8306-CF60401DE640}" dt="2026-06-11T16:33:53.615" v="11" actId="207"/>
        <pc:sldMkLst>
          <pc:docMk/>
          <pc:sldMk cId="0" sldId="261"/>
        </pc:sldMkLst>
        <pc:spChg chg="add mod">
          <ac:chgData name="sinanpsalim@outlook.com" userId="0786db01c6a829da" providerId="LiveId" clId="{7F472D30-13AD-4289-8306-CF60401DE640}" dt="2026-06-11T16:33:53.615" v="11" actId="207"/>
          <ac:spMkLst>
            <pc:docMk/>
            <pc:sldMk cId="0" sldId="261"/>
            <ac:spMk id="7" creationId="{E9F06415-FE51-E24F-6DC7-3274CBCC63EE}"/>
          </ac:spMkLst>
        </pc:spChg>
      </pc:sldChg>
      <pc:sldChg chg="addSp modSp mod">
        <pc:chgData name="sinanpsalim@outlook.com" userId="0786db01c6a829da" providerId="LiveId" clId="{7F472D30-13AD-4289-8306-CF60401DE640}" dt="2026-06-11T16:34:04.150" v="14" actId="207"/>
        <pc:sldMkLst>
          <pc:docMk/>
          <pc:sldMk cId="0" sldId="262"/>
        </pc:sldMkLst>
        <pc:spChg chg="add mod">
          <ac:chgData name="sinanpsalim@outlook.com" userId="0786db01c6a829da" providerId="LiveId" clId="{7F472D30-13AD-4289-8306-CF60401DE640}" dt="2026-06-11T16:34:04.150" v="14" actId="207"/>
          <ac:spMkLst>
            <pc:docMk/>
            <pc:sldMk cId="0" sldId="262"/>
            <ac:spMk id="34" creationId="{20529B8D-51D6-B421-08F0-C27F369F4F86}"/>
          </ac:spMkLst>
        </pc:spChg>
      </pc:sldChg>
      <pc:sldChg chg="addSp modSp mod">
        <pc:chgData name="sinanpsalim@outlook.com" userId="0786db01c6a829da" providerId="LiveId" clId="{7F472D30-13AD-4289-8306-CF60401DE640}" dt="2026-06-11T16:34:15.335" v="17" actId="207"/>
        <pc:sldMkLst>
          <pc:docMk/>
          <pc:sldMk cId="0" sldId="263"/>
        </pc:sldMkLst>
        <pc:spChg chg="add mod">
          <ac:chgData name="sinanpsalim@outlook.com" userId="0786db01c6a829da" providerId="LiveId" clId="{7F472D30-13AD-4289-8306-CF60401DE640}" dt="2026-06-11T16:34:15.335" v="17" actId="207"/>
          <ac:spMkLst>
            <pc:docMk/>
            <pc:sldMk cId="0" sldId="263"/>
            <ac:spMk id="17" creationId="{D5763E86-43E9-F319-BB44-32730856735D}"/>
          </ac:spMkLst>
        </pc:spChg>
      </pc:sldChg>
      <pc:sldChg chg="addSp modSp mod">
        <pc:chgData name="sinanpsalim@outlook.com" userId="0786db01c6a829da" providerId="LiveId" clId="{7F472D30-13AD-4289-8306-CF60401DE640}" dt="2026-06-11T16:34:23.555" v="20" actId="207"/>
        <pc:sldMkLst>
          <pc:docMk/>
          <pc:sldMk cId="0" sldId="264"/>
        </pc:sldMkLst>
        <pc:spChg chg="add mod">
          <ac:chgData name="sinanpsalim@outlook.com" userId="0786db01c6a829da" providerId="LiveId" clId="{7F472D30-13AD-4289-8306-CF60401DE640}" dt="2026-06-11T16:34:23.555" v="20" actId="207"/>
          <ac:spMkLst>
            <pc:docMk/>
            <pc:sldMk cId="0" sldId="264"/>
            <ac:spMk id="10" creationId="{3B131550-E44F-2611-0878-57E06D464B37}"/>
          </ac:spMkLst>
        </pc:spChg>
      </pc:sldChg>
      <pc:sldChg chg="addSp modSp mod">
        <pc:chgData name="sinanpsalim@outlook.com" userId="0786db01c6a829da" providerId="LiveId" clId="{7F472D30-13AD-4289-8306-CF60401DE640}" dt="2026-06-11T16:34:43.902" v="26" actId="1076"/>
        <pc:sldMkLst>
          <pc:docMk/>
          <pc:sldMk cId="0" sldId="265"/>
        </pc:sldMkLst>
        <pc:spChg chg="add mod">
          <ac:chgData name="sinanpsalim@outlook.com" userId="0786db01c6a829da" providerId="LiveId" clId="{7F472D30-13AD-4289-8306-CF60401DE640}" dt="2026-06-11T16:34:43.902" v="26" actId="1076"/>
          <ac:spMkLst>
            <pc:docMk/>
            <pc:sldMk cId="0" sldId="265"/>
            <ac:spMk id="25" creationId="{47CC845B-198B-82ED-1C92-64284B74D4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9434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7795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India Air Quality Crisis: 2010–2023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676525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Data Analytics Deep Dive into </a:t>
            </a: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595,882 Observations</a:t>
            </a: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across </a:t>
            </a: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241 Cities</a:t>
            </a: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31 States and Territories.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294385"/>
            <a:ext cx="1304106" cy="266402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336875"/>
            <a:ext cx="159119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WITH TABLEAU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300067" y="3289622"/>
            <a:ext cx="2168649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403C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89885" y="3336875"/>
            <a:ext cx="244621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DATASET: INDIA AIR QUALITY MASTER</a:t>
            </a:r>
            <a:endParaRPr lang="en-US" sz="8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6093B1-9F75-25AD-571D-3AB572DC0198}"/>
              </a:ext>
            </a:extLst>
          </p:cNvPr>
          <p:cNvSpPr/>
          <p:nvPr/>
        </p:nvSpPr>
        <p:spPr>
          <a:xfrm>
            <a:off x="8035820" y="4826336"/>
            <a:ext cx="1065791" cy="2725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381149"/>
            <a:ext cx="3502968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About the Dataset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26393" y="971178"/>
            <a:ext cx="829121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analysis draws from one of the most comprehensive air quality datasets compiled for India — spanning 14 years of continuous monitoring across the country.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26393" y="1512168"/>
            <a:ext cx="4080197" cy="40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595K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1705049" y="2053605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Observations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26393" y="2306762"/>
            <a:ext cx="408019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Daily PM2.5 readings recorded across all monitored stations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637410" y="1512168"/>
            <a:ext cx="4080197" cy="40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241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5916067" y="2053605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Cities Analyzed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637410" y="2306762"/>
            <a:ext cx="4080197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Urban and semi-urban locations spanning the full geographic breadth of India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6393" y="2939355"/>
            <a:ext cx="4080197" cy="40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31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1705049" y="3480792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States Covered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6393" y="3733949"/>
            <a:ext cx="4080197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Including union territories, representing India's diverse regional landscape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37410" y="2939355"/>
            <a:ext cx="4080197" cy="40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14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5916067" y="3480792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Years of Data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37410" y="3733949"/>
            <a:ext cx="408019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Continuous annual coverage from 2010 through 2023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6393" y="4214068"/>
            <a:ext cx="8291215" cy="430485"/>
          </a:xfrm>
          <a:prstGeom prst="roundRect">
            <a:avLst>
              <a:gd name="adj" fmla="val 4245"/>
            </a:avLst>
          </a:prstGeom>
          <a:solidFill>
            <a:srgbClr val="B6D6FC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208" y="4383509"/>
            <a:ext cx="152251" cy="12181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22275" y="4338712"/>
            <a:ext cx="823071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Pollutants tracked:</a:t>
            </a: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PM2.5 · PM10 · NO2 · CO · SO2 · Ozone · NH3 · Benzene · Toluene</a:t>
            </a:r>
            <a:endParaRPr lang="en-US" sz="9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91B1DC-730C-5386-C0D3-532D690478DF}"/>
              </a:ext>
            </a:extLst>
          </p:cNvPr>
          <p:cNvSpPr/>
          <p:nvPr/>
        </p:nvSpPr>
        <p:spPr>
          <a:xfrm>
            <a:off x="7993430" y="4814225"/>
            <a:ext cx="1102125" cy="2794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755A0E-5121-0D56-A4BF-BE0B0757A439}"/>
              </a:ext>
            </a:extLst>
          </p:cNvPr>
          <p:cNvSpPr txBox="1"/>
          <p:nvPr/>
        </p:nvSpPr>
        <p:spPr>
          <a:xfrm>
            <a:off x="1684343" y="4179822"/>
            <a:ext cx="10770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(Particulate Matter)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349" y="374005"/>
            <a:ext cx="4568800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Why Air Quality Matters</a:t>
            </a:r>
            <a:endParaRPr lang="en-US" sz="2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349" y="963067"/>
            <a:ext cx="261342" cy="26134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9231" y="1007938"/>
            <a:ext cx="238281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21 of 30 Most Polluted Cities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869231" y="1284312"/>
            <a:ext cx="438842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India is home to 21 of the world's 30 most polluted cities — a public health emergency at national scale.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349" y="1926952"/>
            <a:ext cx="261342" cy="26134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9231" y="1971824"/>
            <a:ext cx="2334518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4.5× Above WHO Safe Limit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869231" y="2248198"/>
            <a:ext cx="438842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WHO safe PM2.5 limit is </a:t>
            </a: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 µg/m³</a:t>
            </a: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India's national average stands at </a:t>
            </a: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68 µg/m³</a:t>
            </a: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4.5 times higher.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349" y="2890838"/>
            <a:ext cx="261342" cy="26134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69231" y="2935709"/>
            <a:ext cx="205710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70.7% of Days Are Unsafe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869231" y="3212083"/>
            <a:ext cx="438842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 </a:t>
            </a:r>
            <a:r>
              <a:rPr lang="en-US" sz="1000" b="1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70.7% of all recorded days</a:t>
            </a: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exceed the WHO safe limit — the air is unsafe to breathe.</a:t>
            </a:r>
            <a:endParaRPr lang="en-US" sz="1000" dirty="0"/>
          </a:p>
        </p:txBody>
      </p:sp>
      <p:sp>
        <p:nvSpPr>
          <p:cNvPr id="13" name="Shape 7"/>
          <p:cNvSpPr/>
          <p:nvPr/>
        </p:nvSpPr>
        <p:spPr>
          <a:xfrm>
            <a:off x="457349" y="3749278"/>
            <a:ext cx="4800302" cy="884709"/>
          </a:xfrm>
          <a:prstGeom prst="roundRect">
            <a:avLst>
              <a:gd name="adj" fmla="val 2216"/>
            </a:avLst>
          </a:prstGeom>
          <a:solidFill>
            <a:srgbClr val="FFB3B4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020" y="3936355"/>
            <a:ext cx="163339" cy="13067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82030" y="3890367"/>
            <a:ext cx="4244950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70.7% of days are unsafe to breathe</a:t>
            </a: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across 14 years and 241 cities, the vast majority of recorded days exceeded WHO safe PM2.5 limits.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2070" y="347439"/>
            <a:ext cx="3502521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at a Glance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372070" y="852413"/>
            <a:ext cx="4970859" cy="3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68.0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2192238" y="1316162"/>
            <a:ext cx="1330449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National Avg PM2.5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72070" y="1530028"/>
            <a:ext cx="497085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µg/m³ — 4.5× the WHO safe limit of 15 µg/m³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35736" y="1936478"/>
            <a:ext cx="4970859" cy="3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229.2</a:t>
            </a:r>
            <a:endParaRPr lang="en-US" sz="2750" dirty="0"/>
          </a:p>
        </p:txBody>
      </p:sp>
      <p:sp>
        <p:nvSpPr>
          <p:cNvPr id="8" name="Text 5"/>
          <p:cNvSpPr/>
          <p:nvPr/>
        </p:nvSpPr>
        <p:spPr>
          <a:xfrm>
            <a:off x="2192982" y="2355205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Most Polluted City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72070" y="2569071"/>
            <a:ext cx="497085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0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Byrnihat</a:t>
            </a: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Severe category, nearly 15× the WHO limit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72070" y="2930500"/>
            <a:ext cx="4970859" cy="3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110.1</a:t>
            </a:r>
            <a:endParaRPr lang="en-US" sz="2750" dirty="0"/>
          </a:p>
        </p:txBody>
      </p:sp>
      <p:sp>
        <p:nvSpPr>
          <p:cNvPr id="11" name="Text 8"/>
          <p:cNvSpPr/>
          <p:nvPr/>
        </p:nvSpPr>
        <p:spPr>
          <a:xfrm>
            <a:off x="2192982" y="3394249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Worst State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72070" y="3608115"/>
            <a:ext cx="497085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0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Delhi</a:t>
            </a: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Highest state-level average across all 14 years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72070" y="3969544"/>
            <a:ext cx="4970859" cy="3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70.7%</a:t>
            </a:r>
            <a:endParaRPr lang="en-US" sz="2750" dirty="0"/>
          </a:p>
        </p:txBody>
      </p:sp>
      <p:sp>
        <p:nvSpPr>
          <p:cNvPr id="14" name="Text 11"/>
          <p:cNvSpPr/>
          <p:nvPr/>
        </p:nvSpPr>
        <p:spPr>
          <a:xfrm>
            <a:off x="1895103" y="4433292"/>
            <a:ext cx="192472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Days Exceeding WHO Limit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72070" y="4647158"/>
            <a:ext cx="497085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 all recorded days across the full dataset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423490"/>
            <a:ext cx="8198197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14 Years of Pollution — A Story of Slow Progress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01" y="1606153"/>
            <a:ext cx="3934271" cy="28319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1590" y="1590005"/>
            <a:ext cx="226136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Inflection Points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741590" y="1929854"/>
            <a:ext cx="3934271" cy="1356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2012:</a:t>
            </a: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Peak pollution year — 175.7 µg/m³, nearly 12× the WHO safe limit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2020:</a:t>
            </a: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COVID lockdown — historic 16% drop to 60.3 µg/m³, the lowest in 14 years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2023:</a:t>
            </a: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Post-lockdown rebound — 72.7 µg/m³, still 4.8× above WHO guidelines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41590" y="3431456"/>
            <a:ext cx="3934271" cy="1143595"/>
          </a:xfrm>
          <a:prstGeom prst="roundRect">
            <a:avLst>
              <a:gd name="adj" fmla="val 1772"/>
            </a:avLst>
          </a:prstGeom>
          <a:solidFill>
            <a:srgbClr val="C3C2F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651" y="3639145"/>
            <a:ext cx="168846" cy="1350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80558" y="3581028"/>
            <a:ext cx="3360241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COVID lockdown in 2020 caused the single largest drop in air pollution in recorded Indian history — proving human activity is the primary driver.</a:t>
            </a:r>
            <a:endParaRPr lang="en-US" sz="10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514547-C81B-A13A-F9A6-42000C96D863}"/>
              </a:ext>
            </a:extLst>
          </p:cNvPr>
          <p:cNvSpPr/>
          <p:nvPr/>
        </p:nvSpPr>
        <p:spPr>
          <a:xfrm>
            <a:off x="7999486" y="4814225"/>
            <a:ext cx="1144514" cy="3292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644522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Most Polluted Cities in India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Bihar dominates the top 10</a:t>
            </a: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6 out of 10 most polluted cities are in Bihar, not Delhi. Byrnihat's PM2.5 of 229.2 µg/m³ is over </a:t>
            </a:r>
            <a:r>
              <a:rPr lang="en-US" sz="1100" b="1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15× the WHO safe limit</a:t>
            </a: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648322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Byrnihat — 229.2 µg/m³ (Severe)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Begusarai — 147.6 µg/m³ (Severe)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Chhapra — 113.4 µg/m³ (High)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Ghaziabad — 111.3 µg/m³ (High)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Delhi — 110.1 µg/m³ (High)</a:t>
            </a:r>
            <a:endParaRPr lang="en-US" sz="11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F06415-FE51-E24F-6DC7-3274CBCC63EE}"/>
              </a:ext>
            </a:extLst>
          </p:cNvPr>
          <p:cNvSpPr/>
          <p:nvPr/>
        </p:nvSpPr>
        <p:spPr>
          <a:xfrm>
            <a:off x="8072154" y="4838448"/>
            <a:ext cx="1023401" cy="242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420663"/>
            <a:ext cx="7176046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Geography of Pollution — State by State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7349" y="1130201"/>
            <a:ext cx="266625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5 Most Polluted States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349" y="1469827"/>
            <a:ext cx="3955256" cy="2162621"/>
          </a:xfrm>
          <a:prstGeom prst="roundRect">
            <a:avLst>
              <a:gd name="adj" fmla="val 90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2782" y="1551608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68029" y="1551608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PM2.5 (µg/m³)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2782" y="1911251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Delhi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8029" y="1911251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110.1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2782" y="2270894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Bihar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8029" y="2270894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92.7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2782" y="2630537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Uttar Pradesh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8029" y="2630537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85.8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2782" y="2990180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Haryana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8029" y="2990180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76.3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2782" y="3349823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Assam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8029" y="3349823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69.2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36157" y="1130201"/>
            <a:ext cx="2524795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Bottom 5 Cleanest States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36157" y="1469827"/>
            <a:ext cx="3955256" cy="2162621"/>
          </a:xfrm>
          <a:prstGeom prst="roundRect">
            <a:avLst>
              <a:gd name="adj" fmla="val 90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1591" y="1551608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46838" y="1551608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PM2.5 (µg/m³)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71591" y="1911251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Mizoram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46838" y="1911251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11.75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71591" y="2270894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Sikkim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46838" y="2270894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19.69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71591" y="2630537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Arunachal Pradesh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46838" y="2630537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20.4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71591" y="2990180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Meghalaya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46838" y="2990180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21.9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71591" y="3349823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Puducherry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46838" y="3349823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23.6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349" y="3903464"/>
            <a:ext cx="8229302" cy="683865"/>
          </a:xfrm>
          <a:prstGeom prst="roundRect">
            <a:avLst>
              <a:gd name="adj" fmla="val 2867"/>
            </a:avLst>
          </a:prstGeom>
          <a:solidFill>
            <a:srgbClr val="C3C2F0"/>
          </a:solidFill>
          <a:ln/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20" y="4090541"/>
            <a:ext cx="163339" cy="130671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882030" y="4044553"/>
            <a:ext cx="7673950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North India is 9× more polluted than Northeast India.</a:t>
            </a: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Delhi, Bihar, and Uttar Pradesh consistently top pollution charts across all 14 years — a regional crisis demanding targeted intervention.</a:t>
            </a:r>
            <a:endParaRPr lang="en-US" sz="10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0529B8D-51D6-B421-08F0-C27F369F4F86}"/>
              </a:ext>
            </a:extLst>
          </p:cNvPr>
          <p:cNvSpPr/>
          <p:nvPr/>
        </p:nvSpPr>
        <p:spPr>
          <a:xfrm>
            <a:off x="8047931" y="4856615"/>
            <a:ext cx="1096069" cy="2075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97669"/>
            <a:ext cx="535141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Winter is the Deadliest Season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71" y="1087338"/>
            <a:ext cx="3976092" cy="28619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0800" y="1073274"/>
            <a:ext cx="211760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Seasonal Breakdown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6512" y="1397050"/>
            <a:ext cx="1946077" cy="15517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14156" y="1537543"/>
            <a:ext cx="1607939" cy="394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Winter (Dec–Feb) — </a:t>
            </a:r>
            <a:r>
              <a:rPr lang="en-US" sz="1200" dirty="0">
                <a:solidFill>
                  <a:srgbClr val="C0392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SEVERE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914156" y="2044526"/>
            <a:ext cx="1607939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180+ µg/m³ — Crop burning and cold air trapping drive the worst pollution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60741" y="1397050"/>
            <a:ext cx="1946151" cy="15517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58385" y="1537543"/>
            <a:ext cx="1608013" cy="394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Post-Monsoon (Oct–Nov) — </a:t>
            </a:r>
            <a:r>
              <a:rPr lang="en-US" sz="1200" dirty="0">
                <a:solidFill>
                  <a:srgbClr val="E67E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958385" y="2044526"/>
            <a:ext cx="1608013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120+ µg/m³ — Stubble burning across Punjab and Haryana spikes levels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6512" y="3061246"/>
            <a:ext cx="1946077" cy="155808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914156" y="3201739"/>
            <a:ext cx="1607939" cy="591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Summer (Mar–May) — MODERATE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4914156" y="3905994"/>
            <a:ext cx="1607939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90+ µg/m³ — Higher temperatures and winds provide partial relief</a:t>
            </a:r>
            <a:endParaRPr lang="en-US" sz="9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60741" y="3061246"/>
            <a:ext cx="1946151" cy="155808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958385" y="3201739"/>
            <a:ext cx="1608013" cy="394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Monsoon (Jun–Sep) — </a:t>
            </a:r>
            <a:r>
              <a:rPr lang="en-US" sz="1200" dirty="0">
                <a:solidFill>
                  <a:srgbClr val="27AE6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LOW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6958385" y="3708722"/>
            <a:ext cx="1608013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40+ µg/m³ — Rainfall washes particulates from the atmosphere</a:t>
            </a:r>
            <a:endParaRPr lang="en-US" sz="9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763E86-43E9-F319-BB44-32730856735D}"/>
              </a:ext>
            </a:extLst>
          </p:cNvPr>
          <p:cNvSpPr/>
          <p:nvPr/>
        </p:nvSpPr>
        <p:spPr>
          <a:xfrm>
            <a:off x="8011597" y="4826336"/>
            <a:ext cx="1065791" cy="3171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7841456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PM2.5 and NO2 — Two Sides of the Same Problem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4503" y="1892573"/>
            <a:ext cx="2233240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the Data Confirms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14503" y="2159050"/>
            <a:ext cx="3759622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States with high PM2.5 consistently show high NO2 — confirming that </a:t>
            </a:r>
            <a:r>
              <a:rPr lang="en-US" sz="8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vehicle emissions and industrial activity</a:t>
            </a: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drive both pollutants in tandem.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714503" y="2727127"/>
            <a:ext cx="3759622" cy="35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Danger Zone:</a:t>
            </a: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Delhi, Bihar, Haryana — extreme on both measures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27AE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 Zone:</a:t>
            </a: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Kerala, Mizoram, Sikkim — low on both measures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714503" y="3184550"/>
            <a:ext cx="3759622" cy="543074"/>
          </a:xfrm>
          <a:prstGeom prst="roundRect">
            <a:avLst>
              <a:gd name="adj" fmla="val 3120"/>
            </a:avLst>
          </a:prstGeom>
          <a:solidFill>
            <a:srgbClr val="C3C2F0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463" y="3350642"/>
            <a:ext cx="141163" cy="1129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81587" y="3293715"/>
            <a:ext cx="327957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Delhi sits in the extreme danger zone on both PM2.5 and NO2 — the most critical intervention target in India.</a:t>
            </a:r>
            <a:endParaRPr lang="en-US" sz="8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131550-E44F-2611-0878-57E06D464B37}"/>
              </a:ext>
            </a:extLst>
          </p:cNvPr>
          <p:cNvSpPr/>
          <p:nvPr/>
        </p:nvSpPr>
        <p:spPr>
          <a:xfrm>
            <a:off x="8035820" y="4856615"/>
            <a:ext cx="1035512" cy="242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516954"/>
            <a:ext cx="6490395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Takeaways and the Road Ahead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162" y="1181398"/>
            <a:ext cx="2654796" cy="19987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2846" y="1270471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12353" y="1718965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Crisis Is Real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12353" y="2001366"/>
            <a:ext cx="2360414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India's air is </a:t>
            </a: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4.5× worse</a:t>
            </a: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than WHO limits. Over </a:t>
            </a:r>
            <a:r>
              <a:rPr lang="en-US" sz="1000" b="1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70.7% of days</a:t>
            </a: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are unsafe to breathe.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4528" y="1181398"/>
            <a:ext cx="2654871" cy="19987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72285" y="1270471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3391719" y="1718965"/>
            <a:ext cx="222133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Change Is Proven Possible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391719" y="2001366"/>
            <a:ext cx="2360488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2020 COVID lockdown delivered a </a:t>
            </a: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16% pollution drop</a:t>
            </a: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the largest in 14 years, proving human activity is the primary driver.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3967" y="1181398"/>
            <a:ext cx="2654871" cy="19987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51725" y="1270471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6171158" y="1718965"/>
            <a:ext cx="2360488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North India Needs Urgent Action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171158" y="2209056"/>
            <a:ext cx="2360488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Delhi, Bihar, and UP top pollution charts across all 14 years — demanding targeted, sustained intervention.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65162" y="3320281"/>
            <a:ext cx="2654796" cy="960165"/>
          </a:xfrm>
          <a:prstGeom prst="roundRect">
            <a:avLst>
              <a:gd name="adj" fmla="val 2076"/>
            </a:avLst>
          </a:prstGeom>
          <a:solidFill>
            <a:srgbClr val="EAE8F3"/>
          </a:solidFill>
          <a:ln/>
        </p:spPr>
      </p:sp>
      <p:sp>
        <p:nvSpPr>
          <p:cNvPr id="16" name="Text 11"/>
          <p:cNvSpPr/>
          <p:nvPr/>
        </p:nvSpPr>
        <p:spPr>
          <a:xfrm>
            <a:off x="598066" y="3453185"/>
            <a:ext cx="235289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Stricter Emission Standards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98066" y="3735586"/>
            <a:ext cx="2388989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Enforce tighter vehicle norms in North Indian states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244528" y="3320281"/>
            <a:ext cx="2654871" cy="960165"/>
          </a:xfrm>
          <a:prstGeom prst="roundRect">
            <a:avLst>
              <a:gd name="adj" fmla="val 2076"/>
            </a:avLst>
          </a:prstGeom>
          <a:solidFill>
            <a:srgbClr val="EAE8F3"/>
          </a:solidFill>
          <a:ln/>
        </p:spPr>
      </p:sp>
      <p:sp>
        <p:nvSpPr>
          <p:cNvPr id="19" name="Text 14"/>
          <p:cNvSpPr/>
          <p:nvPr/>
        </p:nvSpPr>
        <p:spPr>
          <a:xfrm>
            <a:off x="3377431" y="3453185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Crop Burning Ban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377431" y="3735586"/>
            <a:ext cx="238906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Year-round ban with farmer compensation and alternatives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023967" y="3320281"/>
            <a:ext cx="2654871" cy="960165"/>
          </a:xfrm>
          <a:prstGeom prst="roundRect">
            <a:avLst>
              <a:gd name="adj" fmla="val 2076"/>
            </a:avLst>
          </a:prstGeom>
          <a:solidFill>
            <a:srgbClr val="EAE8F3"/>
          </a:solidFill>
          <a:ln/>
        </p:spPr>
      </p:sp>
      <p:sp>
        <p:nvSpPr>
          <p:cNvPr id="22" name="Text 17"/>
          <p:cNvSpPr/>
          <p:nvPr/>
        </p:nvSpPr>
        <p:spPr>
          <a:xfrm>
            <a:off x="6156871" y="3453185"/>
            <a:ext cx="206804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Expand AQI Monitoring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156871" y="3735586"/>
            <a:ext cx="238906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monitoring in Tier 2 and Tier 3 cities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65162" y="4420567"/>
            <a:ext cx="867087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Source: India Air Quality Master Dataset · Analyzed with Tableau · 595,882 observations · 2010–2023</a:t>
            </a:r>
            <a:endParaRPr lang="en-US" sz="1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7CC845B-198B-82ED-1C92-64284B74D4BD}"/>
              </a:ext>
            </a:extLst>
          </p:cNvPr>
          <p:cNvSpPr/>
          <p:nvPr/>
        </p:nvSpPr>
        <p:spPr>
          <a:xfrm>
            <a:off x="7918441" y="4852837"/>
            <a:ext cx="1144514" cy="2059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905</Words>
  <Application>Microsoft Office PowerPoint</Application>
  <PresentationFormat>On-screen Show (16:9)</PresentationFormat>
  <Paragraphs>126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Libre Baskerville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sinanpsalim@outlook.com</cp:lastModifiedBy>
  <cp:revision>1</cp:revision>
  <dcterms:created xsi:type="dcterms:W3CDTF">2026-06-06T07:51:58Z</dcterms:created>
  <dcterms:modified xsi:type="dcterms:W3CDTF">2026-06-12T15:45:08Z</dcterms:modified>
</cp:coreProperties>
</file>